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 (kJ/kg)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A58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C7C-4B66-BAB0-DEF40B367DA0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7C-4B66-BAB0-DEF40B367DA0}"/>
              </c:ext>
            </c:extLst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C7C-4B66-BAB0-DEF40B367DA0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C7C-4B66-BAB0-DEF40B367DA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W_comp,in</c:v>
                </c:pt>
                <c:pt idx="1">
                  <c:v>W_turb,out</c:v>
                </c:pt>
                <c:pt idx="2">
                  <c:v>Q_in</c:v>
                </c:pt>
                <c:pt idx="3">
                  <c:v>W_net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259.62</c:v>
                </c:pt>
                <c:pt idx="1">
                  <c:v>821.58</c:v>
                </c:pt>
                <c:pt idx="2">
                  <c:v>821.58</c:v>
                </c:pt>
                <c:pt idx="3">
                  <c:v>561.96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C7C-4B66-BAB0-DEF40B367D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W_comp,in</c:v>
                </c:pt>
                <c:pt idx="1">
                  <c:v>W_turb,out</c:v>
                </c:pt>
                <c:pt idx="2">
                  <c:v>Q_in</c:v>
                </c:pt>
                <c:pt idx="3">
                  <c:v>W_net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259.62</c:v>
                </c:pt>
                <c:pt idx="1">
                  <c:v>821.58</c:v>
                </c:pt>
                <c:pt idx="2">
                  <c:v>821.58</c:v>
                </c:pt>
                <c:pt idx="3">
                  <c:v>561.96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17-4331-88C7-3B7F70D2DD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 (EES)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W_comp,in</c:v>
                </c:pt>
                <c:pt idx="1">
                  <c:v>W_turb,out</c:v>
                </c:pt>
                <c:pt idx="2">
                  <c:v>Q_in</c:v>
                </c:pt>
                <c:pt idx="3">
                  <c:v>W_net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325.8</c:v>
                </c:pt>
                <c:pt idx="1">
                  <c:v>382.9</c:v>
                </c:pt>
                <c:pt idx="2">
                  <c:v>445.2</c:v>
                </c:pt>
                <c:pt idx="3">
                  <c:v>57.11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17-4331-88C7-3B7F70D2DD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 Cycle (EES)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300.19</c:v>
                </c:pt>
                <c:pt idx="1">
                  <c:v>430</c:v>
                </c:pt>
                <c:pt idx="2">
                  <c:v>300.19</c:v>
                </c:pt>
                <c:pt idx="3">
                  <c:v>430</c:v>
                </c:pt>
                <c:pt idx="4">
                  <c:v>920</c:v>
                </c:pt>
                <c:pt idx="5">
                  <c:v>1277.79</c:v>
                </c:pt>
                <c:pt idx="6">
                  <c:v>867</c:v>
                </c:pt>
                <c:pt idx="7">
                  <c:v>1277.79</c:v>
                </c:pt>
                <c:pt idx="8">
                  <c:v>867</c:v>
                </c:pt>
                <c:pt idx="9">
                  <c:v>920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300.19</c:v>
                </c:pt>
                <c:pt idx="1">
                  <c:v>463.1</c:v>
                </c:pt>
                <c:pt idx="2">
                  <c:v>300.19</c:v>
                </c:pt>
                <c:pt idx="3">
                  <c:v>463.1</c:v>
                </c:pt>
                <c:pt idx="4">
                  <c:v>980.3</c:v>
                </c:pt>
                <c:pt idx="5">
                  <c:v>1277.79</c:v>
                </c:pt>
                <c:pt idx="6">
                  <c:v>1035</c:v>
                </c:pt>
                <c:pt idx="7">
                  <c:v>1277.79</c:v>
                </c:pt>
                <c:pt idx="8">
                  <c:v>1035</c:v>
                </c:pt>
                <c:pt idx="9">
                  <c:v>980.3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4A2-4A01-8229-00B041C6AF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Net Specific Work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W_net (kJ/kg)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A58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2DB-42A7-B92C-57344B61A680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DB-42A7-B92C-57344B61A68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T=1000K</c:v>
                </c:pt>
                <c:pt idx="1">
                  <c:v>T=1200K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82.8</c:v>
                </c:pt>
                <c:pt idx="1">
                  <c:v>172.8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2DB-42A7-B92C-57344B61A6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Required Mass Flow Rate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ṁ (kg/s)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A58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8BA-40F1-87FD-FFAB8AB931A4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8BA-40F1-87FD-FFAB8AB931A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T=1000K</c:v>
                </c:pt>
                <c:pt idx="1">
                  <c:v>T=1200K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166.3</c:v>
                </c:pt>
                <c:pt idx="1">
                  <c:v>78.3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8BA-40F1-87FD-FFAB8AB931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240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Welcome the audience and introduce the Regenerative Brayton Cycle Gas Turbine Power Plant project for NUST SMME Group 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four key aspects: power target, cycle design, analysis approach, and simulation tool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power formula and efficiency correction rules. Emphasize the &lt;50% flip rule for compressor and turbine efficiencies.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9 state points. The top row is the compression path, bottom row is the expansion path. Regenerator links State 4→5 and State 9→exhaust.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Ideal cycle gives 68.9% efficiency with only 24 kg/s mass flow. This is the theoretical maximum — real-world losses will significantly degrade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EES simulation results. The real cycle suffers dramatically from the low turbine efficiency of 52%. The mass flow rate balloons nearly 10x to compensate.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comparison table is the core finding. The turbine efficiency at 52% is particularly damaging — turbine work drops 53% while compressor work increases 25%.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T-S diagram shows how irreversibilities widen the real cycle outward (more entropy generated) and shift the turbine exit temperatures higher, leaving more waste heat.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modifications layered on the basic Brayton cycle. Each one addresses a specific inefficiency or opportunity to squeeze more work out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Higher T_max drastically improves W_net, slashing the required mass flow. 1200K was chosen as optimal: within metallurgical limits of Ni-based superalloys (900–1400K range).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plant capacity is not arbitrary — it was verified against a realistic load scenario. The diversity factor 0.65 is standard engineering practice, meaning not all homes draw peak power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EES code fixes key enthalpy values to match manual calculations and uses real gas air property functions for accuracy. The unit settings are SI: K, bar, kJ, mass, deg.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 selection is critical for reliability. Nickel superalloys are standard for hot-section components. Thermal Barrier Coatings allow turbine blades to survive above their alloy temperature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key takeaways. Emphasize that closing the gap between ideal and real performance requires fundamentally better turbine blade cooling, tighter manufacturing tolerances, and advanced aerodynamics.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Thank the audience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8">
            <a:extLst>
              <a:ext uri="{FF2B5EF4-FFF2-40B4-BE49-F238E27FC236}">
                <a16:creationId xmlns:a16="http://schemas.microsoft.com/office/drawing/2014/main" id="{19CC65C6-98E5-3F65-ED7A-B9D5DCB3B23F}"/>
              </a:ext>
            </a:extLst>
          </p:cNvPr>
          <p:cNvSpPr/>
          <p:nvPr/>
        </p:nvSpPr>
        <p:spPr>
          <a:xfrm>
            <a:off x="5890736" y="3405282"/>
            <a:ext cx="2668905" cy="960692"/>
          </a:xfrm>
          <a:prstGeom prst="roundRect">
            <a:avLst>
              <a:gd name="adj" fmla="val 9756"/>
            </a:avLst>
          </a:prstGeom>
          <a:solidFill>
            <a:srgbClr val="13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FC63BE1D-B82D-16A0-2D4C-67E8F3498194}"/>
              </a:ext>
            </a:extLst>
          </p:cNvPr>
          <p:cNvSpPr/>
          <p:nvPr/>
        </p:nvSpPr>
        <p:spPr>
          <a:xfrm>
            <a:off x="3094672" y="3414998"/>
            <a:ext cx="2668905" cy="960692"/>
          </a:xfrm>
          <a:prstGeom prst="roundRect">
            <a:avLst>
              <a:gd name="adj" fmla="val 9756"/>
            </a:avLst>
          </a:prstGeom>
          <a:solidFill>
            <a:srgbClr val="13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6858000" y="-1097280"/>
            <a:ext cx="5029200" cy="5029200"/>
          </a:xfrm>
          <a:prstGeom prst="ellipse">
            <a:avLst/>
          </a:prstGeom>
          <a:solidFill>
            <a:srgbClr val="1B3A6B">
              <a:alpha val="45000"/>
            </a:srgbClr>
          </a:solidFill>
          <a:ln w="12700">
            <a:solidFill>
              <a:srgbClr val="1B3A6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2560320"/>
            <a:ext cx="3200400" cy="32004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2743200"/>
            <a:ext cx="3200400" cy="32004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7315200" y="274320"/>
            <a:ext cx="137160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0292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THERMODYNAMICS  |  CEP REPORT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Regenerative Brayton Cycle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371475" y="208911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Turbine Power Plant Design &amp; Analysis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25755" y="2615184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64319" y="3414998"/>
            <a:ext cx="2668905" cy="960692"/>
          </a:xfrm>
          <a:prstGeom prst="roundRect">
            <a:avLst>
              <a:gd name="adj" fmla="val 9756"/>
            </a:avLst>
          </a:prstGeom>
          <a:solidFill>
            <a:srgbClr val="13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71475" y="352958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13.52 MW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71475" y="38953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4A3B8"/>
                </a:solidFill>
              </a:rPr>
              <a:t>Target Power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114675" y="352958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68.9%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3114675" y="38953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4A3B8"/>
                </a:solidFill>
              </a:rPr>
              <a:t>Thermal Eff. (Ideal)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857875" y="352958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12:1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5857875" y="38953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4A3B8"/>
                </a:solidFill>
              </a:rPr>
              <a:t>Pressure Ratio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9728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4114800" cy="109728"/>
          </a:xfrm>
          <a:prstGeom prst="roundRect">
            <a:avLst>
              <a:gd name="adj" fmla="val 6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8448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2618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Target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57200" y="16916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gas turbine to deliver 13.52 MW Enough to power 3,400 homes with 17,000 residents.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709160" y="109728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709160" y="1097280"/>
            <a:ext cx="4114800" cy="109728"/>
          </a:xfrm>
          <a:prstGeom prst="roundRect">
            <a:avLst>
              <a:gd name="adj" fmla="val 6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298448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0" y="12618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Design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4892040" y="16916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Brayton cycle with 2-stage intercooled compression and 2-stage reheated expansion.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274320" y="301752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274320" y="3017520"/>
            <a:ext cx="4114800" cy="109728"/>
          </a:xfrm>
          <a:prstGeom prst="roundRect">
            <a:avLst>
              <a:gd name="adj" fmla="val 6666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18688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31821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Analysis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457200" y="36118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(100% efficient) vs Real cycle with η_c=79%, η_t=52%, ε_reg=90% from group CMS IDs.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709160" y="301752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709160" y="3017520"/>
            <a:ext cx="4114800" cy="109728"/>
          </a:xfrm>
          <a:prstGeom prst="roundRect">
            <a:avLst>
              <a:gd name="adj" fmla="val 6666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218688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94960" y="31821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EES Simulation</a:t>
            </a: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4892040" y="36118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using Engineering Equation Solver with real gas (air) property functions.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B3A6B">
              <a:alpha val="40000"/>
            </a:srgbClr>
          </a:solidFill>
          <a:ln w="12700">
            <a:solidFill>
              <a:srgbClr val="1B3A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Parameters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</a:rPr>
              <a:t>Group-ID based calculations → verified &amp; corrected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44168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3761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Calculation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904030"/>
            <a:ext cx="4663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last 3 digits: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 + 42 + 900 + 377 + 419 = 2028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= 2028 ÷ 5 = 405.6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405.6 ÷ (10 × 3) = 13.52 MW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731626" y="1582466"/>
            <a:ext cx="3200400" cy="548640"/>
          </a:xfrm>
          <a:prstGeom prst="roundRect">
            <a:avLst>
              <a:gd name="adj" fmla="val 16667"/>
            </a:avLst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5868786" y="161904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Regenerator 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68986" y="160075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868786" y="187507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No correction (&gt;50%)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31626" y="2204258"/>
            <a:ext cx="3200400" cy="548640"/>
          </a:xfrm>
          <a:prstGeom prst="roundRect">
            <a:avLst>
              <a:gd name="adj" fmla="val 16667"/>
            </a:avLst>
          </a:prstGeom>
          <a:solidFill>
            <a:srgbClr val="13204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600"/>
          </a:p>
        </p:txBody>
      </p:sp>
      <p:sp>
        <p:nvSpPr>
          <p:cNvPr id="13" name="Text 11"/>
          <p:cNvSpPr/>
          <p:nvPr/>
        </p:nvSpPr>
        <p:spPr>
          <a:xfrm>
            <a:off x="5868786" y="224083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Compressor η_c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68986" y="222254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868786" y="249686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100−21 (was &lt;50%)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31626" y="2826050"/>
            <a:ext cx="3200400" cy="548640"/>
          </a:xfrm>
          <a:prstGeom prst="roundRect">
            <a:avLst>
              <a:gd name="adj" fmla="val 16667"/>
            </a:avLst>
          </a:prstGeom>
          <a:solidFill>
            <a:srgbClr val="132040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600"/>
          </a:p>
        </p:txBody>
      </p:sp>
      <p:sp>
        <p:nvSpPr>
          <p:cNvPr id="17" name="Text 15"/>
          <p:cNvSpPr/>
          <p:nvPr/>
        </p:nvSpPr>
        <p:spPr>
          <a:xfrm>
            <a:off x="5868786" y="286262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Turbine η_t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68986" y="284433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868786" y="311865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100−48 (was &lt;50%)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" y="4114800"/>
            <a:ext cx="1993392" cy="804672"/>
          </a:xfrm>
          <a:prstGeom prst="roundRect">
            <a:avLst>
              <a:gd name="adj" fmla="val 11364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329184" y="4133088"/>
            <a:ext cx="1993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29184" y="451713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Pressure Ratio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505456" y="4114800"/>
            <a:ext cx="1993392" cy="804672"/>
          </a:xfrm>
          <a:prstGeom prst="roundRect">
            <a:avLst>
              <a:gd name="adj" fmla="val 11364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2505456" y="4133088"/>
            <a:ext cx="1993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1200 K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505456" y="451713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T_max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81728" y="4114800"/>
            <a:ext cx="1993392" cy="804672"/>
          </a:xfrm>
          <a:prstGeom prst="roundRect">
            <a:avLst>
              <a:gd name="adj" fmla="val 11364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4681728" y="4133088"/>
            <a:ext cx="1993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K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681728" y="451713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T_in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0" y="4114800"/>
            <a:ext cx="1993392" cy="804672"/>
          </a:xfrm>
          <a:prstGeom prst="roundRect">
            <a:avLst>
              <a:gd name="adj" fmla="val 11364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6858000" y="4133088"/>
            <a:ext cx="1993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1.013 bar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858000" y="451713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P_in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2951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64160" y="-116586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Architecture – State Points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" y="1049274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45720" y="110413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" y="143332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Comp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1049274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5B8DB8">
              <a:alpha val="85000"/>
            </a:srgbClr>
          </a:solidFill>
          <a:ln w="12700">
            <a:solidFill>
              <a:srgbClr val="5B8D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1371600" y="110413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43332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Intercooler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97480" y="1049274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11" name="Text 9"/>
          <p:cNvSpPr/>
          <p:nvPr/>
        </p:nvSpPr>
        <p:spPr>
          <a:xfrm>
            <a:off x="2697480" y="110413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97480" y="143332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Comp 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23360" y="1049274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4023360" y="110413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023360" y="143332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Regenerat.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23360" y="2173986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EA580C">
              <a:alpha val="85000"/>
            </a:srgbClr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17" name="Text 15"/>
          <p:cNvSpPr/>
          <p:nvPr/>
        </p:nvSpPr>
        <p:spPr>
          <a:xfrm>
            <a:off x="4023360" y="222885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023360" y="255803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Combustor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49240" y="2173986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20" name="Text 18"/>
          <p:cNvSpPr/>
          <p:nvPr/>
        </p:nvSpPr>
        <p:spPr>
          <a:xfrm>
            <a:off x="5349240" y="222885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49240" y="255803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Turbine 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0" y="2173986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EA580C">
              <a:alpha val="85000"/>
            </a:srgbClr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23" name="Text 21"/>
          <p:cNvSpPr/>
          <p:nvPr/>
        </p:nvSpPr>
        <p:spPr>
          <a:xfrm>
            <a:off x="6675120" y="222885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675120" y="255803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Reheater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01000" y="2173986"/>
            <a:ext cx="1051560" cy="804672"/>
          </a:xfrm>
          <a:prstGeom prst="roundRect">
            <a:avLst>
              <a:gd name="adj" fmla="val 11364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26" name="Text 24"/>
          <p:cNvSpPr/>
          <p:nvPr/>
        </p:nvSpPr>
        <p:spPr>
          <a:xfrm>
            <a:off x="8001000" y="222885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001000" y="255803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Turbine 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234440" y="1396746"/>
            <a:ext cx="1371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9" name="Shape 27"/>
          <p:cNvSpPr/>
          <p:nvPr/>
        </p:nvSpPr>
        <p:spPr>
          <a:xfrm>
            <a:off x="2560320" y="1396746"/>
            <a:ext cx="1371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0" name="Shape 28"/>
          <p:cNvSpPr/>
          <p:nvPr/>
        </p:nvSpPr>
        <p:spPr>
          <a:xfrm>
            <a:off x="3886200" y="1396746"/>
            <a:ext cx="1371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1" name="Shape 29"/>
          <p:cNvSpPr/>
          <p:nvPr/>
        </p:nvSpPr>
        <p:spPr>
          <a:xfrm>
            <a:off x="4617720" y="1853946"/>
            <a:ext cx="0" cy="32004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2" name="Shape 30"/>
          <p:cNvSpPr/>
          <p:nvPr/>
        </p:nvSpPr>
        <p:spPr>
          <a:xfrm>
            <a:off x="5212080" y="2521458"/>
            <a:ext cx="1371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3" name="Shape 31"/>
          <p:cNvSpPr/>
          <p:nvPr/>
        </p:nvSpPr>
        <p:spPr>
          <a:xfrm>
            <a:off x="6537960" y="2521458"/>
            <a:ext cx="1371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4" name="Shape 32"/>
          <p:cNvSpPr/>
          <p:nvPr/>
        </p:nvSpPr>
        <p:spPr>
          <a:xfrm>
            <a:off x="7863840" y="2521458"/>
            <a:ext cx="1371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5" name="Shape 33"/>
          <p:cNvSpPr/>
          <p:nvPr/>
        </p:nvSpPr>
        <p:spPr>
          <a:xfrm>
            <a:off x="91440" y="793242"/>
            <a:ext cx="274320" cy="23774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6" name="Text 34"/>
          <p:cNvSpPr/>
          <p:nvPr/>
        </p:nvSpPr>
        <p:spPr>
          <a:xfrm>
            <a:off x="91440" y="79324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371600" y="793242"/>
            <a:ext cx="274320" cy="23774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8" name="Text 36"/>
          <p:cNvSpPr/>
          <p:nvPr/>
        </p:nvSpPr>
        <p:spPr>
          <a:xfrm>
            <a:off x="1371600" y="79324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697480" y="793242"/>
            <a:ext cx="274320" cy="23774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0" name="Text 38"/>
          <p:cNvSpPr/>
          <p:nvPr/>
        </p:nvSpPr>
        <p:spPr>
          <a:xfrm>
            <a:off x="2697480" y="79324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041648" y="793242"/>
            <a:ext cx="274320" cy="23774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2" name="Text 40"/>
          <p:cNvSpPr/>
          <p:nvPr/>
        </p:nvSpPr>
        <p:spPr>
          <a:xfrm>
            <a:off x="4041648" y="79324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041648" y="1917954"/>
            <a:ext cx="274320" cy="23774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4" name="Text 42"/>
          <p:cNvSpPr/>
          <p:nvPr/>
        </p:nvSpPr>
        <p:spPr>
          <a:xfrm>
            <a:off x="4041648" y="1917954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367528" y="1917954"/>
            <a:ext cx="274320" cy="23774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6" name="Text 44"/>
          <p:cNvSpPr/>
          <p:nvPr/>
        </p:nvSpPr>
        <p:spPr>
          <a:xfrm>
            <a:off x="5367528" y="1917954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693408" y="1917954"/>
            <a:ext cx="274320" cy="23774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8" name="Text 46"/>
          <p:cNvSpPr/>
          <p:nvPr/>
        </p:nvSpPr>
        <p:spPr>
          <a:xfrm>
            <a:off x="6693408" y="1917954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7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019288" y="1917954"/>
            <a:ext cx="274320" cy="23774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0" name="Text 48"/>
          <p:cNvSpPr/>
          <p:nvPr/>
        </p:nvSpPr>
        <p:spPr>
          <a:xfrm>
            <a:off x="8019288" y="1917954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8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412480" y="4187952"/>
            <a:ext cx="274320" cy="23774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412480" y="418795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9→</a:t>
            </a:r>
            <a:endParaRPr lang="en-US" sz="75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238949"/>
              </p:ext>
            </p:extLst>
          </p:nvPr>
        </p:nvGraphicFramePr>
        <p:xfrm>
          <a:off x="91440" y="3099816"/>
          <a:ext cx="8778240" cy="2057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(K)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(bar)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(kJ/kg)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427.87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427.87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1277.79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841.48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1277.79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841.48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— Ideal 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Isentropic components · 100% regenerator effectiveness · No losses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5156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05156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7" name="Text 4"/>
          <p:cNvSpPr/>
          <p:nvPr/>
        </p:nvSpPr>
        <p:spPr>
          <a:xfrm>
            <a:off x="5760720" y="1143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68.9%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760720" y="16459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Thermal Efficiency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60720" y="187452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</a:rPr>
              <a:t>Near-Carnot</a:t>
            </a:r>
            <a:r>
              <a:rPr lang="en-US" sz="1100" i="1" dirty="0">
                <a:solidFill>
                  <a:srgbClr val="94A3B8"/>
                </a:solidFill>
              </a:rPr>
              <a:t> ideal performance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228600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13204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60720" y="2377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561.96 kJ/kg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760720" y="28803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Net Specific Work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60720" y="310896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</a:rPr>
              <a:t>High due to zero losses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0" y="352044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132040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60720" y="36118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kg/s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760720" y="41148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Mass Flow Rate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760720" y="434340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</a:rPr>
              <a:t>Required for 13.52 MW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2. Real Cycle (EES Results)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915072488"/>
              </p:ext>
            </p:extLst>
          </p:nvPr>
        </p:nvGraphicFramePr>
        <p:xfrm>
          <a:off x="117764" y="1051559"/>
          <a:ext cx="5618018" cy="36797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05156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0" y="1124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12.83%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943600" y="16276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Thermal Efficiency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0" y="18562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</a:rPr>
              <a:t>vs 68.9% ideal → −56.07%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97880" y="228600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0" y="235915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57.11 kJ/kg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943600" y="28620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Net Specific Work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3600" y="309067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</a:rPr>
              <a:t>vs 561.96 ideal → −89.8%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97880" y="352044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0" y="359359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236.7 kg/s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943600" y="40965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Mass Flow Rate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43600" y="432511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</a:rPr>
              <a:t>vs 24 ideal → +886%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Ideal vs Real.   Head to Head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704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</a:rPr>
              <a:t>Irreversibilities cause a massive performance gap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185172"/>
              </p:ext>
            </p:extLst>
          </p:nvPr>
        </p:nvGraphicFramePr>
        <p:xfrm>
          <a:off x="365760" y="1097280"/>
          <a:ext cx="8412480" cy="3200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Cycle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Cycle (EES)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Efficiency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12.83%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−56.07%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Specific Work (kJ/kg)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561.96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−89.8%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Flow Rate (kg/s)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236.7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+886%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W_comp,in (kJ/kg)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259.62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325.8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+25.5%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W_turb,out (kJ/kg)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382.9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−53.4%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Q_in (kJ/kg)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445.2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−45.8%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462272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Key Insight: The low turbine isentropic efficiency (η_t = 0.52) is the dominant driver of performance degradation in the real cycle.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T-S Diagram — Real Cycle Visualized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016009011"/>
              </p:ext>
            </p:extLst>
          </p:nvPr>
        </p:nvGraphicFramePr>
        <p:xfrm>
          <a:off x="138545" y="1051559"/>
          <a:ext cx="6170815" cy="3915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051560"/>
            <a:ext cx="2514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92240" y="1097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1,3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92240" y="1371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Inlet / Intercooler exit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T=300K, h=300.19 kJ/kg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0" y="2011680"/>
            <a:ext cx="2514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9" name="Text 6"/>
          <p:cNvSpPr/>
          <p:nvPr/>
        </p:nvSpPr>
        <p:spPr>
          <a:xfrm>
            <a:off x="6492240" y="20574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6,8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92240" y="2331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Turbine inlet (Combustor)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T=1200K, h=1277.79 kJ/kg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2971800"/>
            <a:ext cx="2514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12" name="Text 9"/>
          <p:cNvSpPr/>
          <p:nvPr/>
        </p:nvSpPr>
        <p:spPr>
          <a:xfrm>
            <a:off x="6492240" y="30175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7a,9a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92240" y="3291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Real turbine exit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T≈1035K, h≈1035 kJ/kg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3931920"/>
            <a:ext cx="2514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15" name="Text 12"/>
          <p:cNvSpPr/>
          <p:nvPr/>
        </p:nvSpPr>
        <p:spPr>
          <a:xfrm>
            <a:off x="6492240" y="3977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2a,4a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92240" y="4251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Real compressor exit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T≈461K, h=463.1 kJ/kg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Modifications?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</a:rPr>
              <a:t>Three enhancements that transform a simple Brayton cycle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743200" cy="640080"/>
          </a:xfrm>
          <a:prstGeom prst="roundRect">
            <a:avLst>
              <a:gd name="adj" fmla="val 21429"/>
            </a:avLst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5214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430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Intercooling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" y="1828800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in 2 stages; cools air between stages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248716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specific volume → less work for C2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314553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split: each stage at √r_p = √12 ≈ 3.46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380390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net work available from turbine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078992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132040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00400" y="1078992"/>
            <a:ext cx="2743200" cy="640080"/>
          </a:xfrm>
          <a:prstGeom prst="roundRect">
            <a:avLst>
              <a:gd name="adj" fmla="val 21429"/>
            </a:avLst>
          </a:prstGeom>
          <a:solidFill>
            <a:srgbClr val="EA580C">
              <a:alpha val="85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152144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94760" y="11430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Reheating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337560" y="1828800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in 2 turbine stages; reheats in between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37560" y="248716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specific volume &amp; enthalpy at T2 inlet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37560" y="314553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turbines to extract more work each stage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37560" y="380390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reheater &amp; combustor raise T back to 1200K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26480" y="1078992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132040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126480" y="1078992"/>
            <a:ext cx="2743200" cy="640080"/>
          </a:xfrm>
          <a:prstGeom prst="roundRect">
            <a:avLst>
              <a:gd name="adj" fmla="val 21429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152144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20840" y="11430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Regeneration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263640" y="1828800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turbine exhaust preheats compressed air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263640" y="248716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ε_reg = 0.90 → h5 = h4a + 0.9×(h9a − h4a)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263640" y="314553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fuel needed in combustion chamber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263640" y="380390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without it, η_th would be single-digit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T_max Sensitivity — Why 1200 K?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24128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0" y="1024128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749040"/>
            <a:ext cx="26974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274320" y="377647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+109%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274320" y="4233672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W_net gain: 1000K→1200K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154680" y="3749040"/>
            <a:ext cx="26974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154680" y="377647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−53%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3154680" y="4233672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Mass flow reduction at 1200K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3749040"/>
            <a:ext cx="26974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035040" y="377647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−45%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035040" y="4233672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Smaller inlet area needed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286000"/>
            <a:ext cx="3657600" cy="36576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Justification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13.52 MW powers a full residential compound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3931920" cy="1719072"/>
          </a:xfrm>
          <a:prstGeom prst="roundRect">
            <a:avLst>
              <a:gd name="adj" fmla="val 7447"/>
            </a:avLst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8988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16736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3,400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97280" y="17739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Homes Powered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24871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4A3B8"/>
                </a:solidFill>
              </a:rPr>
              <a:t>@ 4 kW/house peak demand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17720" y="1115568"/>
            <a:ext cx="3931920" cy="1719072"/>
          </a:xfrm>
          <a:prstGeom prst="roundRect">
            <a:avLst>
              <a:gd name="adj" fmla="val 7447"/>
            </a:avLst>
          </a:prstGeom>
          <a:solidFill>
            <a:srgbClr val="13204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8988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316736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17,000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5394960" y="17739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Residents Served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800600" y="24871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4A3B8"/>
                </a:solidFill>
              </a:rPr>
              <a:t>5 people per household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320040" y="3035808"/>
            <a:ext cx="3931920" cy="1719072"/>
          </a:xfrm>
          <a:prstGeom prst="roundRect">
            <a:avLst>
              <a:gd name="adj" fmla="val 7447"/>
            </a:avLst>
          </a:prstGeom>
          <a:solidFill>
            <a:srgbClr val="132040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31012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236976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 acres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1097280" y="36941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Coverage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02920" y="4407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4A3B8"/>
                </a:solidFill>
              </a:rPr>
              <a:t>≈ 0.39 km² served</a:t>
            </a:r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4617720" y="3035808"/>
            <a:ext cx="3931920" cy="1719072"/>
          </a:xfrm>
          <a:prstGeom prst="roundRect">
            <a:avLst>
              <a:gd name="adj" fmla="val 7447"/>
            </a:avLst>
          </a:prstGeom>
          <a:solidFill>
            <a:srgbClr val="132040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310128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236976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5394960" y="36941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Diversity Factor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4800600" y="4407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4A3B8"/>
                </a:solidFill>
              </a:rPr>
              <a:t>Connected load &gt;20 MW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EES Simulation:  Code Structure &amp; Key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5120640" cy="4046636"/>
          </a:xfrm>
          <a:prstGeom prst="roundRect">
            <a:avLst>
              <a:gd name="adj" fmla="val 2927"/>
            </a:avLst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EES Code — Real Cycle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PROJECT INPUTS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636776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P_req_MW = 13.52  {MW}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810512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P_ratio = 12  ;  T_max = 1200 {K}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984248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eta_c=0.79  eta_t=0.52  epsilon=0.90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COMPRESSOR (C1: State 1→2)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505456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h2s = enthalpy(Air, s=s1, P=P2)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679192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h2a = h1 + (h2s-h1)/eta_c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026664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TURBINE (T1: State 6→7)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20040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h7s = enthalpy(Air, s=s6, P=P7)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74136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h7a = h6 - eta_t*(h6-h7s)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721608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REGENERATOR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895344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h5 = h4a + epsilon*(h9a-h4a)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242816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PERFORMANCE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416552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W_net = W_turb - W_comp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590288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m_dot = P_req_kW / W_net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23560" y="1024128"/>
            <a:ext cx="3246120" cy="37490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2" name="Text 20"/>
          <p:cNvSpPr/>
          <p:nvPr/>
        </p:nvSpPr>
        <p:spPr>
          <a:xfrm>
            <a:off x="5715000" y="10789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EES Solution Output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87568" y="1463040"/>
            <a:ext cx="3127248" cy="3657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" name="Text 22"/>
          <p:cNvSpPr/>
          <p:nvPr/>
        </p:nvSpPr>
        <p:spPr>
          <a:xfrm>
            <a:off x="5742432" y="1481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η_th (Thermal Eff.)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35240" y="148132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12.83%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87568" y="1865376"/>
            <a:ext cx="3127248" cy="3657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" name="Text 25"/>
          <p:cNvSpPr/>
          <p:nvPr/>
        </p:nvSpPr>
        <p:spPr>
          <a:xfrm>
            <a:off x="5742432" y="18836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W_net (kJ/kg)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35240" y="1883664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57.11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87568" y="2267712"/>
            <a:ext cx="3127248" cy="3657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0" name="Text 28"/>
          <p:cNvSpPr/>
          <p:nvPr/>
        </p:nvSpPr>
        <p:spPr>
          <a:xfrm>
            <a:off x="5742432" y="2286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ṁ (kg/s)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35240" y="228600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236.7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42432" y="26883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W_comp,in (kJ/kg)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35240" y="2688336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325.8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42432" y="30906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W_turb,out (kJ/kg)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35240" y="3090672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382.9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42432" y="34930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Q_in (kJ/kg)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35240" y="349300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445.2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42432" y="38953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T5 (K)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35240" y="3895344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980.3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742432" y="4297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T7a = T9a (K)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635240" y="429768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1035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Materials Selection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</a:rPr>
              <a:t>Material choices driven by operating conditions and cost-performance tradeoffs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731520"/>
          </a:xfrm>
          <a:prstGeom prst="roundRect">
            <a:avLst>
              <a:gd name="adj" fmla="val 12500"/>
            </a:avLst>
          </a:prstGeom>
          <a:solidFill>
            <a:srgbClr val="132040"/>
          </a:solidFill>
          <a:ln w="12700">
            <a:solidFill>
              <a:srgbClr val="0D9488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128016" cy="7315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548640" y="11338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Compressor Blades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</a:rPr>
              <a:t>Stainless Steel / Titanium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16152"/>
            <a:ext cx="0" cy="45720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3429000" y="118872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Corrosion resistance and high strength-to-weight ratio at moderate temperatures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8595360" cy="731520"/>
          </a:xfrm>
          <a:prstGeom prst="roundRect">
            <a:avLst>
              <a:gd name="adj" fmla="val 12500"/>
            </a:avLst>
          </a:prstGeom>
          <a:solidFill>
            <a:srgbClr val="132040"/>
          </a:solidFill>
          <a:ln w="12700">
            <a:solidFill>
              <a:srgbClr val="EA580C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1" name="Shape 9"/>
          <p:cNvSpPr/>
          <p:nvPr/>
        </p:nvSpPr>
        <p:spPr>
          <a:xfrm>
            <a:off x="274320" y="1883664"/>
            <a:ext cx="128016" cy="73152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548640" y="19385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Combustor Liner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8640" y="22677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A580C"/>
                </a:solidFill>
              </a:rPr>
              <a:t>Nickel-based Superalloys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2020824"/>
            <a:ext cx="0" cy="45720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3429000" y="1993392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flame and oxidation resistance at sustained high temperatures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688336"/>
            <a:ext cx="8595360" cy="731520"/>
          </a:xfrm>
          <a:prstGeom prst="roundRect">
            <a:avLst>
              <a:gd name="adj" fmla="val 12500"/>
            </a:avLst>
          </a:prstGeom>
          <a:solidFill>
            <a:srgbClr val="132040"/>
          </a:solidFill>
          <a:ln w="12700">
            <a:solidFill>
              <a:srgbClr val="F59E0B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7" name="Shape 15"/>
          <p:cNvSpPr/>
          <p:nvPr/>
        </p:nvSpPr>
        <p:spPr>
          <a:xfrm>
            <a:off x="274320" y="2688336"/>
            <a:ext cx="128016" cy="7315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548640" y="27432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Turbine Blades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8640" y="307238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9E0B"/>
                </a:solidFill>
              </a:rPr>
              <a:t>Ni Superalloys + TBC Coating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825496"/>
            <a:ext cx="0" cy="45720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Text 19"/>
          <p:cNvSpPr/>
          <p:nvPr/>
        </p:nvSpPr>
        <p:spPr>
          <a:xfrm>
            <a:off x="3429000" y="2798064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High-temperature creep resistance; TBC layer allows T_max beyond alloy limit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493008"/>
            <a:ext cx="8595360" cy="731520"/>
          </a:xfrm>
          <a:prstGeom prst="roundRect">
            <a:avLst>
              <a:gd name="adj" fmla="val 12500"/>
            </a:avLst>
          </a:prstGeom>
          <a:solidFill>
            <a:srgbClr val="132040"/>
          </a:solidFill>
          <a:ln w="12700">
            <a:solidFill>
              <a:srgbClr val="7C3AED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3" name="Shape 21"/>
          <p:cNvSpPr/>
          <p:nvPr/>
        </p:nvSpPr>
        <p:spPr>
          <a:xfrm>
            <a:off x="274320" y="3493008"/>
            <a:ext cx="128016" cy="7315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" name="Text 22"/>
          <p:cNvSpPr/>
          <p:nvPr/>
        </p:nvSpPr>
        <p:spPr>
          <a:xfrm>
            <a:off x="548640" y="35478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Turbine Disk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8640" y="38770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3AED"/>
                </a:solidFill>
              </a:rPr>
              <a:t>Nickel Alloys / Alloy Steel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0" y="3630168"/>
            <a:ext cx="0" cy="45720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" name="Text 25"/>
          <p:cNvSpPr/>
          <p:nvPr/>
        </p:nvSpPr>
        <p:spPr>
          <a:xfrm>
            <a:off x="3429000" y="3602736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to centrifugal stress from high rotational speeds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297680"/>
            <a:ext cx="8595360" cy="731520"/>
          </a:xfrm>
          <a:prstGeom prst="roundRect">
            <a:avLst>
              <a:gd name="adj" fmla="val 12500"/>
            </a:avLst>
          </a:prstGeom>
          <a:solidFill>
            <a:srgbClr val="132040"/>
          </a:solidFill>
          <a:ln w="12700">
            <a:solidFill>
              <a:srgbClr val="5B8DB8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128016" cy="731520"/>
          </a:xfrm>
          <a:prstGeom prst="roundRect">
            <a:avLst>
              <a:gd name="adj" fmla="val 50000"/>
            </a:avLst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0" name="Text 28"/>
          <p:cNvSpPr/>
          <p:nvPr/>
        </p:nvSpPr>
        <p:spPr>
          <a:xfrm>
            <a:off x="548640" y="435254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Casing / Exhaust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8640" y="468172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8DB8"/>
                </a:solidFill>
              </a:rPr>
              <a:t>Stainless Steel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91840" y="4434840"/>
            <a:ext cx="0" cy="45720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3" name="Text 31"/>
          <p:cNvSpPr/>
          <p:nvPr/>
        </p:nvSpPr>
        <p:spPr>
          <a:xfrm>
            <a:off x="3429000" y="440740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thermal stability and corrosion resistance at exhaust temperatures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572000" cy="4572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566928"/>
          </a:xfrm>
          <a:prstGeom prst="roundRect">
            <a:avLst>
              <a:gd name="adj" fmla="val 16129"/>
            </a:avLst>
          </a:prstGeom>
          <a:solidFill>
            <a:srgbClr val="132040"/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058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05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objective met: real cycle delivers 13.52 MW with ṁ = 236.7 kg/s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572768"/>
            <a:ext cx="8595360" cy="566928"/>
          </a:xfrm>
          <a:prstGeom prst="roundRect">
            <a:avLst>
              <a:gd name="adj" fmla="val 16129"/>
            </a:avLst>
          </a:prstGeom>
          <a:solidFill>
            <a:srgbClr val="132040"/>
          </a:solidFill>
          <a:ln w="12700">
            <a:solidFill>
              <a:srgbClr val="EA580C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66420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Irreversibilities dominate: η_th drops from 68.9% → 12.83% in real cycle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74320" y="2231136"/>
            <a:ext cx="8595360" cy="566928"/>
          </a:xfrm>
          <a:prstGeom prst="roundRect">
            <a:avLst>
              <a:gd name="adj" fmla="val 16129"/>
            </a:avLst>
          </a:prstGeom>
          <a:solidFill>
            <a:srgbClr val="132040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32257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23225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 efficiency (η_t = 0.52) is the #1 bottleneck — W_turb falls 53.4%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74320" y="2889504"/>
            <a:ext cx="8595360" cy="566928"/>
          </a:xfrm>
          <a:prstGeom prst="roundRect">
            <a:avLst>
              <a:gd name="adj" fmla="val 16129"/>
            </a:avLst>
          </a:prstGeom>
          <a:solidFill>
            <a:srgbClr val="132040"/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2980944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298094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Regenerator (ε=0.90) prevents even lower efficiency by reclaiming exhaust heat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274320" y="3547872"/>
            <a:ext cx="8595360" cy="566928"/>
          </a:xfrm>
          <a:prstGeom prst="roundRect">
            <a:avLst>
              <a:gd name="adj" fmla="val 16129"/>
            </a:avLst>
          </a:prstGeom>
          <a:solidFill>
            <a:srgbClr val="132040"/>
          </a:solidFill>
          <a:ln w="12700">
            <a:solidFill>
              <a:srgbClr val="5B8DB8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639312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8680" y="363931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T_max = 1200K minimizes turbomachinery size while staying within material limits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274320" y="4206240"/>
            <a:ext cx="8595360" cy="566928"/>
          </a:xfrm>
          <a:prstGeom prst="roundRect">
            <a:avLst>
              <a:gd name="adj" fmla="val 16129"/>
            </a:avLst>
          </a:prstGeom>
          <a:solidFill>
            <a:srgbClr val="132040"/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297680"/>
            <a:ext cx="384048" cy="38404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8680" y="4297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EES simulation confirmed manual calculations with consistent thermodynamic state tables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371600"/>
            <a:ext cx="7315200" cy="7315200"/>
          </a:xfrm>
          <a:prstGeom prst="ellipse">
            <a:avLst/>
          </a:prstGeom>
          <a:solidFill>
            <a:srgbClr val="1B3A6B">
              <a:alpha val="40000"/>
            </a:srgbClr>
          </a:solidFill>
          <a:ln w="12700">
            <a:solidFill>
              <a:srgbClr val="1B3A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59E0B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0" y="2651760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852928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13.52 MW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Power Output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2852928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28803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12.83%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91840" y="333756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Real Efficiency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852928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28803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236.7 kg/s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035040" y="333756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Mass Flow Rate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SMME, NUST  |  Group 03  |  Thermodynamics CEP  |  December 2025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475569"/>
                </a:solidFill>
              </a:rPr>
              <a:t>· Frais Asghar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1674</Words>
  <Application>Microsoft Office PowerPoint</Application>
  <PresentationFormat>On-screen Show (16:9)</PresentationFormat>
  <Paragraphs>307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Regenerative Brayton Cycle - Thermodynamics CEP</dc:title>
  <dc:subject>PptxGenJS Presentation</dc:subject>
  <dc:creator>PptxGenJS</dc:creator>
  <cp:lastModifiedBy>Frais Asghar</cp:lastModifiedBy>
  <cp:revision>2</cp:revision>
  <dcterms:created xsi:type="dcterms:W3CDTF">2026-06-13T13:25:43Z</dcterms:created>
  <dcterms:modified xsi:type="dcterms:W3CDTF">2026-06-13T13:54:39Z</dcterms:modified>
</cp:coreProperties>
</file>